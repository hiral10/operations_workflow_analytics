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tNode1NoLn">
    <dgm:fillClrLst meth="repeat">
      <a:schemeClr val="lt1">
        <a:tint val="75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dk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5E813A-D96F-4138-AE1E-CE16D214F95A}" type="doc">
      <dgm:prSet loTypeId="urn:microsoft.com/office/officeart/2024/layout/VerticalActionList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7148EEE8-8848-4CE8-AD04-E75E4B47E833}">
      <dgm:prSet phldrT="[Text]" custT="1"/>
      <dgm:spPr/>
      <dgm:t>
        <a:bodyPr/>
        <a:lstStyle/>
        <a:p>
          <a:pPr>
            <a:buNone/>
          </a:pPr>
          <a:r>
            <a:rPr lang="en-US" sz="2100" b="1" dirty="0"/>
            <a:t>Investigate West Warehouse</a:t>
          </a:r>
        </a:p>
        <a:p>
          <a:pPr>
            <a:buNone/>
          </a:pPr>
          <a:r>
            <a:rPr lang="en-US" sz="1400" dirty="0"/>
            <a:t>Review workflow, queue times, handoffs, capacity, and workload distribution.</a:t>
          </a:r>
        </a:p>
      </dgm:t>
    </dgm:pt>
    <dgm:pt modelId="{B0AFDF41-92C9-40D1-996D-F087EBA11E37}" type="parTrans" cxnId="{699A83BE-8F69-485B-86BE-DEF75E4868F5}">
      <dgm:prSet/>
      <dgm:spPr/>
      <dgm:t>
        <a:bodyPr/>
        <a:lstStyle/>
        <a:p>
          <a:endParaRPr lang="en-US"/>
        </a:p>
      </dgm:t>
    </dgm:pt>
    <dgm:pt modelId="{D05B2B88-7157-4B6C-810A-D4EC430B413E}" type="sibTrans" cxnId="{699A83BE-8F69-485B-86BE-DEF75E4868F5}">
      <dgm:prSet/>
      <dgm:spPr/>
      <dgm:t>
        <a:bodyPr/>
        <a:lstStyle/>
        <a:p>
          <a:endParaRPr lang="en-US"/>
        </a:p>
      </dgm:t>
    </dgm:pt>
    <dgm:pt modelId="{799A3937-A1C0-45A3-83A3-A8272285A815}">
      <dgm:prSet phldrT="[Text]" phldr="0"/>
      <dgm:spPr/>
      <dgm:t>
        <a:bodyPr/>
        <a:lstStyle/>
        <a:p>
          <a:r>
            <a:rPr lang="en-US" dirty="0"/>
            <a:t>      2.	</a:t>
          </a:r>
        </a:p>
      </dgm:t>
    </dgm:pt>
    <dgm:pt modelId="{F238A123-AF53-4592-958E-BE89EEB440EF}" type="parTrans" cxnId="{9909CD43-8DCF-42BA-8DCC-2D7E53BB5655}">
      <dgm:prSet/>
      <dgm:spPr/>
      <dgm:t>
        <a:bodyPr/>
        <a:lstStyle/>
        <a:p>
          <a:endParaRPr lang="en-US"/>
        </a:p>
      </dgm:t>
    </dgm:pt>
    <dgm:pt modelId="{134CFA2A-3A21-49A8-BCBD-D765E34164D2}" type="sibTrans" cxnId="{9909CD43-8DCF-42BA-8DCC-2D7E53BB5655}">
      <dgm:prSet/>
      <dgm:spPr/>
      <dgm:t>
        <a:bodyPr/>
        <a:lstStyle/>
        <a:p>
          <a:endParaRPr lang="en-US"/>
        </a:p>
      </dgm:t>
    </dgm:pt>
    <dgm:pt modelId="{EB1C62D6-E07C-4C80-B522-2C9E9F985CB2}">
      <dgm:prSet phldrT="[Text]" custT="1"/>
      <dgm:spPr/>
      <dgm:t>
        <a:bodyPr/>
        <a:lstStyle/>
        <a:p>
          <a:pPr>
            <a:buNone/>
          </a:pPr>
          <a:r>
            <a:rPr lang="en-US" sz="2100" b="1" dirty="0"/>
            <a:t>Investigate Team B</a:t>
          </a:r>
        </a:p>
        <a:p>
          <a:pPr>
            <a:buNone/>
          </a:pPr>
          <a:r>
            <a:rPr lang="en-US" sz="1400" dirty="0"/>
            <a:t>Compare workload, priority mix, order complexity, and processing-time distribution with other teams.</a:t>
          </a:r>
        </a:p>
      </dgm:t>
    </dgm:pt>
    <dgm:pt modelId="{C906B59D-8C6F-47F4-AD97-5342EA5F199F}" type="parTrans" cxnId="{A710B6DB-609C-4878-BFA1-46A192F09092}">
      <dgm:prSet/>
      <dgm:spPr/>
      <dgm:t>
        <a:bodyPr/>
        <a:lstStyle/>
        <a:p>
          <a:endParaRPr lang="en-US"/>
        </a:p>
      </dgm:t>
    </dgm:pt>
    <dgm:pt modelId="{27062872-039A-405D-AD42-104CB7330EE1}" type="sibTrans" cxnId="{A710B6DB-609C-4878-BFA1-46A192F09092}">
      <dgm:prSet/>
      <dgm:spPr/>
      <dgm:t>
        <a:bodyPr/>
        <a:lstStyle/>
        <a:p>
          <a:endParaRPr lang="en-US"/>
        </a:p>
      </dgm:t>
    </dgm:pt>
    <dgm:pt modelId="{7FB22B0D-3F5C-458C-80D2-8440D5F5AAFF}">
      <dgm:prSet phldrT="[Text]" phldr="0"/>
      <dgm:spPr/>
      <dgm:t>
        <a:bodyPr/>
        <a:lstStyle/>
        <a:p>
          <a:r>
            <a:rPr lang="en-US" dirty="0"/>
            <a:t>      3.</a:t>
          </a:r>
        </a:p>
      </dgm:t>
    </dgm:pt>
    <dgm:pt modelId="{E847ECCE-A939-4D34-9AF9-9D553ABF75F1}" type="parTrans" cxnId="{F4BA65DC-8F19-471C-BB59-FA0B02B33EE4}">
      <dgm:prSet/>
      <dgm:spPr/>
      <dgm:t>
        <a:bodyPr/>
        <a:lstStyle/>
        <a:p>
          <a:endParaRPr lang="en-US"/>
        </a:p>
      </dgm:t>
    </dgm:pt>
    <dgm:pt modelId="{A8AC70E6-CFC3-4512-90E9-15617DF2903A}" type="sibTrans" cxnId="{F4BA65DC-8F19-471C-BB59-FA0B02B33EE4}">
      <dgm:prSet/>
      <dgm:spPr/>
      <dgm:t>
        <a:bodyPr/>
        <a:lstStyle/>
        <a:p>
          <a:endParaRPr lang="en-US"/>
        </a:p>
      </dgm:t>
    </dgm:pt>
    <dgm:pt modelId="{D4ADBD81-0782-42D0-ADAD-E70B43BEFD1A}">
      <dgm:prSet phldrT="[Text]" custT="1"/>
      <dgm:spPr/>
      <dgm:t>
        <a:bodyPr/>
        <a:lstStyle/>
        <a:p>
          <a:pPr>
            <a:buNone/>
          </a:pPr>
          <a:r>
            <a:rPr lang="en-US" sz="2100" b="1" dirty="0"/>
            <a:t>Monitor SLA Performance</a:t>
          </a:r>
        </a:p>
        <a:p>
          <a:pPr>
            <a:buNone/>
          </a:pPr>
          <a:r>
            <a:rPr lang="en-US" sz="1400" dirty="0"/>
            <a:t>Continue monthly monitoring to identify changes in compliance and emerging bottlenecks.</a:t>
          </a:r>
        </a:p>
      </dgm:t>
    </dgm:pt>
    <dgm:pt modelId="{146F3B0A-4C14-4EF7-A030-8485ADCF97D2}" type="parTrans" cxnId="{61C72AA8-0FD8-4E86-8C3B-91457E3CE773}">
      <dgm:prSet/>
      <dgm:spPr/>
      <dgm:t>
        <a:bodyPr/>
        <a:lstStyle/>
        <a:p>
          <a:endParaRPr lang="en-US"/>
        </a:p>
      </dgm:t>
    </dgm:pt>
    <dgm:pt modelId="{B0C504A2-FCFA-49C9-B0CE-2065D3AC11EA}" type="sibTrans" cxnId="{61C72AA8-0FD8-4E86-8C3B-91457E3CE773}">
      <dgm:prSet/>
      <dgm:spPr/>
      <dgm:t>
        <a:bodyPr/>
        <a:lstStyle/>
        <a:p>
          <a:endParaRPr lang="en-US"/>
        </a:p>
      </dgm:t>
    </dgm:pt>
    <dgm:pt modelId="{B26624C7-414F-4A4A-B417-04CCD2E7D5A6}">
      <dgm:prSet phldrT="[Text]" phldr="0"/>
      <dgm:spPr/>
      <dgm:t>
        <a:bodyPr/>
        <a:lstStyle/>
        <a:p>
          <a:r>
            <a:rPr lang="en-US" dirty="0"/>
            <a:t>      4.</a:t>
          </a:r>
        </a:p>
      </dgm:t>
    </dgm:pt>
    <dgm:pt modelId="{666E70AF-725D-4932-A215-AC5E7376B26F}" type="parTrans" cxnId="{C47D89EA-815C-4C87-93D7-A83358177633}">
      <dgm:prSet/>
      <dgm:spPr/>
      <dgm:t>
        <a:bodyPr/>
        <a:lstStyle/>
        <a:p>
          <a:endParaRPr lang="en-US"/>
        </a:p>
      </dgm:t>
    </dgm:pt>
    <dgm:pt modelId="{689C852B-5B1D-4569-97FA-6499507A8791}" type="sibTrans" cxnId="{C47D89EA-815C-4C87-93D7-A83358177633}">
      <dgm:prSet/>
      <dgm:spPr/>
      <dgm:t>
        <a:bodyPr/>
        <a:lstStyle/>
        <a:p>
          <a:endParaRPr lang="en-US"/>
        </a:p>
      </dgm:t>
    </dgm:pt>
    <dgm:pt modelId="{EA18E184-8FC9-425B-8A1E-472FDDE1992C}">
      <dgm:prSet phldrT="[Text]" custT="1"/>
      <dgm:spPr/>
      <dgm:t>
        <a:bodyPr/>
        <a:lstStyle/>
        <a:p>
          <a:pPr>
            <a:buNone/>
          </a:pPr>
          <a:r>
            <a:rPr lang="en-US" sz="2100" b="1" dirty="0"/>
            <a:t>Improve Data Quality</a:t>
          </a:r>
        </a:p>
        <a:p>
          <a:pPr>
            <a:buNone/>
          </a:pPr>
          <a:r>
            <a:rPr lang="en-US" sz="1400" dirty="0"/>
            <a:t>Address missing Region, Team, Processing Hours, and Order Value fields at the source.</a:t>
          </a:r>
        </a:p>
      </dgm:t>
    </dgm:pt>
    <dgm:pt modelId="{EF99F938-CAEF-4667-ADA8-009FE5D2188E}" type="parTrans" cxnId="{8C807B27-8F12-4B9F-8367-58ACC2E725FC}">
      <dgm:prSet/>
      <dgm:spPr/>
      <dgm:t>
        <a:bodyPr/>
        <a:lstStyle/>
        <a:p>
          <a:endParaRPr lang="en-US"/>
        </a:p>
      </dgm:t>
    </dgm:pt>
    <dgm:pt modelId="{BE6B738F-3FD8-42FC-880B-8ECA77117822}" type="sibTrans" cxnId="{8C807B27-8F12-4B9F-8367-58ACC2E725FC}">
      <dgm:prSet/>
      <dgm:spPr/>
      <dgm:t>
        <a:bodyPr/>
        <a:lstStyle/>
        <a:p>
          <a:endParaRPr lang="en-US"/>
        </a:p>
      </dgm:t>
    </dgm:pt>
    <dgm:pt modelId="{BB70767D-D6EB-485D-B9C5-1D72D449A6FB}">
      <dgm:prSet phldrT="[Text]" phldr="0"/>
      <dgm:spPr/>
      <dgm:t>
        <a:bodyPr/>
        <a:lstStyle/>
        <a:p>
          <a:r>
            <a:rPr lang="en-US" dirty="0"/>
            <a:t>      1.	</a:t>
          </a:r>
        </a:p>
      </dgm:t>
    </dgm:pt>
    <dgm:pt modelId="{6224B54E-7DD0-440C-B054-DE6D3421D9B6}" type="sibTrans" cxnId="{AE5F7639-790F-4742-8EFC-D7A9DC1596F9}">
      <dgm:prSet/>
      <dgm:spPr/>
      <dgm:t>
        <a:bodyPr/>
        <a:lstStyle/>
        <a:p>
          <a:endParaRPr lang="en-US"/>
        </a:p>
      </dgm:t>
    </dgm:pt>
    <dgm:pt modelId="{80577D72-04EA-49CB-939F-068DEE22C989}" type="parTrans" cxnId="{AE5F7639-790F-4742-8EFC-D7A9DC1596F9}">
      <dgm:prSet/>
      <dgm:spPr/>
      <dgm:t>
        <a:bodyPr/>
        <a:lstStyle/>
        <a:p>
          <a:endParaRPr lang="en-US"/>
        </a:p>
      </dgm:t>
    </dgm:pt>
    <dgm:pt modelId="{980FF3DB-6F64-46B4-B124-71B41859E068}" type="pres">
      <dgm:prSet presAssocID="{9B5E813A-D96F-4138-AE1E-CE16D214F95A}" presName="Name0" presStyleCnt="0">
        <dgm:presLayoutVars>
          <dgm:dir/>
          <dgm:animLvl val="lvl"/>
          <dgm:resizeHandles val="exact"/>
        </dgm:presLayoutVars>
      </dgm:prSet>
      <dgm:spPr/>
    </dgm:pt>
    <dgm:pt modelId="{DDBE15FA-5489-4186-AC66-030D71F579BA}" type="pres">
      <dgm:prSet presAssocID="{BB70767D-D6EB-485D-B9C5-1D72D449A6FB}" presName="linNode" presStyleCnt="0"/>
      <dgm:spPr/>
    </dgm:pt>
    <dgm:pt modelId="{D0D9C4E2-2CBC-4482-9D24-9D18AFB95FF3}" type="pres">
      <dgm:prSet presAssocID="{BB70767D-D6EB-485D-B9C5-1D72D449A6FB}" presName="bgOutline" presStyleLbl="fgAcc1" presStyleIdx="0" presStyleCnt="4"/>
      <dgm:spPr/>
    </dgm:pt>
    <dgm:pt modelId="{D524B9F7-13B2-4608-9EAC-82C1936DCBBA}" type="pres">
      <dgm:prSet presAssocID="{BB70767D-D6EB-485D-B9C5-1D72D449A6FB}" presName="parentText" presStyleLbl="alignNode1" presStyleIdx="0" presStyleCnt="4" custLinFactNeighborX="639" custLinFactNeighborY="-6884">
        <dgm:presLayoutVars>
          <dgm:chMax val="1"/>
          <dgm:bulletEnabled/>
        </dgm:presLayoutVars>
      </dgm:prSet>
      <dgm:spPr/>
    </dgm:pt>
    <dgm:pt modelId="{4A0E297B-AE95-49F0-98DA-864038C960A7}" type="pres">
      <dgm:prSet presAssocID="{BB70767D-D6EB-485D-B9C5-1D72D449A6FB}" presName="descendantText" presStyleLbl="revTx" presStyleIdx="0" presStyleCnt="0">
        <dgm:presLayoutVars>
          <dgm:bulletEnabled/>
        </dgm:presLayoutVars>
      </dgm:prSet>
      <dgm:spPr/>
    </dgm:pt>
    <dgm:pt modelId="{89A6B9AA-6BAF-4EBB-B8FF-208527063B8E}" type="pres">
      <dgm:prSet presAssocID="{6224B54E-7DD0-440C-B054-DE6D3421D9B6}" presName="sp" presStyleCnt="0"/>
      <dgm:spPr/>
    </dgm:pt>
    <dgm:pt modelId="{08D8A2C3-6768-4BDD-9BC8-5997B98541D0}" type="pres">
      <dgm:prSet presAssocID="{799A3937-A1C0-45A3-83A3-A8272285A815}" presName="linNode" presStyleCnt="0"/>
      <dgm:spPr/>
    </dgm:pt>
    <dgm:pt modelId="{0869AD61-C5AD-40AD-908E-CCC8FD76C1BE}" type="pres">
      <dgm:prSet presAssocID="{799A3937-A1C0-45A3-83A3-A8272285A815}" presName="bgOutline" presStyleLbl="fgAcc1" presStyleIdx="1" presStyleCnt="4"/>
      <dgm:spPr/>
    </dgm:pt>
    <dgm:pt modelId="{4B87DB97-2CA1-4A19-B977-6B5E10405BFA}" type="pres">
      <dgm:prSet presAssocID="{799A3937-A1C0-45A3-83A3-A8272285A815}" presName="parentText" presStyleLbl="alignNode1" presStyleIdx="1" presStyleCnt="4" custLinFactNeighborX="0" custLinFactNeighborY="-2407">
        <dgm:presLayoutVars>
          <dgm:chMax val="1"/>
          <dgm:bulletEnabled/>
        </dgm:presLayoutVars>
      </dgm:prSet>
      <dgm:spPr/>
    </dgm:pt>
    <dgm:pt modelId="{B0440041-94E8-454D-B019-3FD403841F17}" type="pres">
      <dgm:prSet presAssocID="{799A3937-A1C0-45A3-83A3-A8272285A815}" presName="descendantText" presStyleLbl="revTx" presStyleIdx="0" presStyleCnt="0">
        <dgm:presLayoutVars>
          <dgm:bulletEnabled/>
        </dgm:presLayoutVars>
      </dgm:prSet>
      <dgm:spPr/>
    </dgm:pt>
    <dgm:pt modelId="{7BD8207D-BCF9-4F00-817E-69F9A7EF3B06}" type="pres">
      <dgm:prSet presAssocID="{134CFA2A-3A21-49A8-BCBD-D765E34164D2}" presName="sp" presStyleCnt="0"/>
      <dgm:spPr/>
    </dgm:pt>
    <dgm:pt modelId="{F95706E8-60F7-4A89-8FE0-EE488E36AE0A}" type="pres">
      <dgm:prSet presAssocID="{7FB22B0D-3F5C-458C-80D2-8440D5F5AAFF}" presName="linNode" presStyleCnt="0"/>
      <dgm:spPr/>
    </dgm:pt>
    <dgm:pt modelId="{AACA05CD-AFCD-4FFD-BBBC-ABDF6FBBAB7D}" type="pres">
      <dgm:prSet presAssocID="{7FB22B0D-3F5C-458C-80D2-8440D5F5AAFF}" presName="bgOutline" presStyleLbl="fgAcc1" presStyleIdx="2" presStyleCnt="4"/>
      <dgm:spPr/>
    </dgm:pt>
    <dgm:pt modelId="{1280E6B2-331D-492E-B7E4-A7D4E6CE7752}" type="pres">
      <dgm:prSet presAssocID="{7FB22B0D-3F5C-458C-80D2-8440D5F5AAFF}" presName="parentText" presStyleLbl="alignNode1" presStyleIdx="2" presStyleCnt="4">
        <dgm:presLayoutVars>
          <dgm:chMax val="1"/>
          <dgm:bulletEnabled/>
        </dgm:presLayoutVars>
      </dgm:prSet>
      <dgm:spPr/>
    </dgm:pt>
    <dgm:pt modelId="{110AE7FA-B4D2-42FA-B08C-6F442718E507}" type="pres">
      <dgm:prSet presAssocID="{7FB22B0D-3F5C-458C-80D2-8440D5F5AAFF}" presName="descendantText" presStyleLbl="revTx" presStyleIdx="0" presStyleCnt="0">
        <dgm:presLayoutVars>
          <dgm:bulletEnabled/>
        </dgm:presLayoutVars>
      </dgm:prSet>
      <dgm:spPr/>
    </dgm:pt>
    <dgm:pt modelId="{B0444DAD-CD3E-4143-90AD-9DD98D262AD9}" type="pres">
      <dgm:prSet presAssocID="{A8AC70E6-CFC3-4512-90E9-15617DF2903A}" presName="sp" presStyleCnt="0"/>
      <dgm:spPr/>
    </dgm:pt>
    <dgm:pt modelId="{2EA5A7CE-2DA5-46DE-8672-7007B1C6BB3E}" type="pres">
      <dgm:prSet presAssocID="{B26624C7-414F-4A4A-B417-04CCD2E7D5A6}" presName="linNode" presStyleCnt="0"/>
      <dgm:spPr/>
    </dgm:pt>
    <dgm:pt modelId="{9C2EB30E-5D12-4410-AFE0-B818BB88D55E}" type="pres">
      <dgm:prSet presAssocID="{B26624C7-414F-4A4A-B417-04CCD2E7D5A6}" presName="bgOutline" presStyleLbl="fgAcc1" presStyleIdx="3" presStyleCnt="4"/>
      <dgm:spPr/>
    </dgm:pt>
    <dgm:pt modelId="{BE2A4268-1F74-4068-AF1C-4D907D453A30}" type="pres">
      <dgm:prSet presAssocID="{B26624C7-414F-4A4A-B417-04CCD2E7D5A6}" presName="parentText" presStyleLbl="alignNode1" presStyleIdx="3" presStyleCnt="4">
        <dgm:presLayoutVars>
          <dgm:chMax val="1"/>
          <dgm:bulletEnabled/>
        </dgm:presLayoutVars>
      </dgm:prSet>
      <dgm:spPr/>
    </dgm:pt>
    <dgm:pt modelId="{55CAF516-463B-4DDC-862D-A45A8C094D06}" type="pres">
      <dgm:prSet presAssocID="{B26624C7-414F-4A4A-B417-04CCD2E7D5A6}" presName="descendantText" presStyleLbl="revTx" presStyleIdx="0" presStyleCnt="0">
        <dgm:presLayoutVars>
          <dgm:bulletEnabled/>
        </dgm:presLayoutVars>
      </dgm:prSet>
      <dgm:spPr/>
    </dgm:pt>
  </dgm:ptLst>
  <dgm:cxnLst>
    <dgm:cxn modelId="{912E2C0C-DA84-4C5F-9FFA-314BD1E0BAD2}" type="presOf" srcId="{EA18E184-8FC9-425B-8A1E-472FDDE1992C}" destId="{55CAF516-463B-4DDC-862D-A45A8C094D06}" srcOrd="0" destOrd="0" presId="urn:microsoft.com/office/officeart/2024/layout/VerticalActionList"/>
    <dgm:cxn modelId="{8C807B27-8F12-4B9F-8367-58ACC2E725FC}" srcId="{B26624C7-414F-4A4A-B417-04CCD2E7D5A6}" destId="{EA18E184-8FC9-425B-8A1E-472FDDE1992C}" srcOrd="0" destOrd="0" parTransId="{EF99F938-CAEF-4667-ADA8-009FE5D2188E}" sibTransId="{BE6B738F-3FD8-42FC-880B-8ECA77117822}"/>
    <dgm:cxn modelId="{AE5F7639-790F-4742-8EFC-D7A9DC1596F9}" srcId="{9B5E813A-D96F-4138-AE1E-CE16D214F95A}" destId="{BB70767D-D6EB-485D-B9C5-1D72D449A6FB}" srcOrd="0" destOrd="0" parTransId="{80577D72-04EA-49CB-939F-068DEE22C989}" sibTransId="{6224B54E-7DD0-440C-B054-DE6D3421D9B6}"/>
    <dgm:cxn modelId="{7A8E5D3E-3D52-4603-B9F8-3F251F168233}" type="presOf" srcId="{799A3937-A1C0-45A3-83A3-A8272285A815}" destId="{0869AD61-C5AD-40AD-908E-CCC8FD76C1BE}" srcOrd="0" destOrd="0" presId="urn:microsoft.com/office/officeart/2024/layout/VerticalActionList"/>
    <dgm:cxn modelId="{07319862-374B-492C-B692-44B9B786B8DA}" type="presOf" srcId="{7FB22B0D-3F5C-458C-80D2-8440D5F5AAFF}" destId="{AACA05CD-AFCD-4FFD-BBBC-ABDF6FBBAB7D}" srcOrd="0" destOrd="0" presId="urn:microsoft.com/office/officeart/2024/layout/VerticalActionList"/>
    <dgm:cxn modelId="{9909CD43-8DCF-42BA-8DCC-2D7E53BB5655}" srcId="{9B5E813A-D96F-4138-AE1E-CE16D214F95A}" destId="{799A3937-A1C0-45A3-83A3-A8272285A815}" srcOrd="1" destOrd="0" parTransId="{F238A123-AF53-4592-958E-BE89EEB440EF}" sibTransId="{134CFA2A-3A21-49A8-BCBD-D765E34164D2}"/>
    <dgm:cxn modelId="{F30D174D-4488-490C-B7D0-A90E9950B5A5}" type="presOf" srcId="{9B5E813A-D96F-4138-AE1E-CE16D214F95A}" destId="{980FF3DB-6F64-46B4-B124-71B41859E068}" srcOrd="0" destOrd="0" presId="urn:microsoft.com/office/officeart/2024/layout/VerticalActionList"/>
    <dgm:cxn modelId="{CF4A6952-3DCE-4AC7-8CB9-C89450E06CB3}" type="presOf" srcId="{799A3937-A1C0-45A3-83A3-A8272285A815}" destId="{4B87DB97-2CA1-4A19-B977-6B5E10405BFA}" srcOrd="1" destOrd="0" presId="urn:microsoft.com/office/officeart/2024/layout/VerticalActionList"/>
    <dgm:cxn modelId="{3D2E717D-25A5-4E7F-B4AE-374F393365A1}" type="presOf" srcId="{B26624C7-414F-4A4A-B417-04CCD2E7D5A6}" destId="{BE2A4268-1F74-4068-AF1C-4D907D453A30}" srcOrd="1" destOrd="0" presId="urn:microsoft.com/office/officeart/2024/layout/VerticalActionList"/>
    <dgm:cxn modelId="{76D1A582-4E79-435D-BF79-4F95C32CF033}" type="presOf" srcId="{EB1C62D6-E07C-4C80-B522-2C9E9F985CB2}" destId="{B0440041-94E8-454D-B019-3FD403841F17}" srcOrd="0" destOrd="0" presId="urn:microsoft.com/office/officeart/2024/layout/VerticalActionList"/>
    <dgm:cxn modelId="{811FDB85-3574-448E-A934-00DD25D91D74}" type="presOf" srcId="{7148EEE8-8848-4CE8-AD04-E75E4B47E833}" destId="{4A0E297B-AE95-49F0-98DA-864038C960A7}" srcOrd="0" destOrd="0" presId="urn:microsoft.com/office/officeart/2024/layout/VerticalActionList"/>
    <dgm:cxn modelId="{AE1E8195-5D90-4E28-B1C6-B5C1C86B0F39}" type="presOf" srcId="{BB70767D-D6EB-485D-B9C5-1D72D449A6FB}" destId="{D524B9F7-13B2-4608-9EAC-82C1936DCBBA}" srcOrd="1" destOrd="0" presId="urn:microsoft.com/office/officeart/2024/layout/VerticalActionList"/>
    <dgm:cxn modelId="{61C72AA8-0FD8-4E86-8C3B-91457E3CE773}" srcId="{7FB22B0D-3F5C-458C-80D2-8440D5F5AAFF}" destId="{D4ADBD81-0782-42D0-ADAD-E70B43BEFD1A}" srcOrd="0" destOrd="0" parTransId="{146F3B0A-4C14-4EF7-A030-8485ADCF97D2}" sibTransId="{B0C504A2-FCFA-49C9-B0CE-2065D3AC11EA}"/>
    <dgm:cxn modelId="{699A83BE-8F69-485B-86BE-DEF75E4868F5}" srcId="{BB70767D-D6EB-485D-B9C5-1D72D449A6FB}" destId="{7148EEE8-8848-4CE8-AD04-E75E4B47E833}" srcOrd="0" destOrd="0" parTransId="{B0AFDF41-92C9-40D1-996D-F087EBA11E37}" sibTransId="{D05B2B88-7157-4B6C-810A-D4EC430B413E}"/>
    <dgm:cxn modelId="{A2F058D0-8986-42D7-ACAB-A4EDB2C144EF}" type="presOf" srcId="{7FB22B0D-3F5C-458C-80D2-8440D5F5AAFF}" destId="{1280E6B2-331D-492E-B7E4-A7D4E6CE7752}" srcOrd="1" destOrd="0" presId="urn:microsoft.com/office/officeart/2024/layout/VerticalActionList"/>
    <dgm:cxn modelId="{D3B3C4D4-4DC2-4694-BA72-D36653A6586B}" type="presOf" srcId="{B26624C7-414F-4A4A-B417-04CCD2E7D5A6}" destId="{9C2EB30E-5D12-4410-AFE0-B818BB88D55E}" srcOrd="0" destOrd="0" presId="urn:microsoft.com/office/officeart/2024/layout/VerticalActionList"/>
    <dgm:cxn modelId="{A710B6DB-609C-4878-BFA1-46A192F09092}" srcId="{799A3937-A1C0-45A3-83A3-A8272285A815}" destId="{EB1C62D6-E07C-4C80-B522-2C9E9F985CB2}" srcOrd="0" destOrd="0" parTransId="{C906B59D-8C6F-47F4-AD97-5342EA5F199F}" sibTransId="{27062872-039A-405D-AD42-104CB7330EE1}"/>
    <dgm:cxn modelId="{F4BA65DC-8F19-471C-BB59-FA0B02B33EE4}" srcId="{9B5E813A-D96F-4138-AE1E-CE16D214F95A}" destId="{7FB22B0D-3F5C-458C-80D2-8440D5F5AAFF}" srcOrd="2" destOrd="0" parTransId="{E847ECCE-A939-4D34-9AF9-9D553ABF75F1}" sibTransId="{A8AC70E6-CFC3-4512-90E9-15617DF2903A}"/>
    <dgm:cxn modelId="{E742A1DC-0EDD-45A3-8135-23C637D1B631}" type="presOf" srcId="{BB70767D-D6EB-485D-B9C5-1D72D449A6FB}" destId="{D0D9C4E2-2CBC-4482-9D24-9D18AFB95FF3}" srcOrd="0" destOrd="0" presId="urn:microsoft.com/office/officeart/2024/layout/VerticalActionList"/>
    <dgm:cxn modelId="{581135E4-46A8-43F1-9FAA-F1F906FA284A}" type="presOf" srcId="{D4ADBD81-0782-42D0-ADAD-E70B43BEFD1A}" destId="{110AE7FA-B4D2-42FA-B08C-6F442718E507}" srcOrd="0" destOrd="0" presId="urn:microsoft.com/office/officeart/2024/layout/VerticalActionList"/>
    <dgm:cxn modelId="{C47D89EA-815C-4C87-93D7-A83358177633}" srcId="{9B5E813A-D96F-4138-AE1E-CE16D214F95A}" destId="{B26624C7-414F-4A4A-B417-04CCD2E7D5A6}" srcOrd="3" destOrd="0" parTransId="{666E70AF-725D-4932-A215-AC5E7376B26F}" sibTransId="{689C852B-5B1D-4569-97FA-6499507A8791}"/>
    <dgm:cxn modelId="{8A612D5B-5EB2-4AB9-8793-B5AF960F7BF0}" type="presParOf" srcId="{980FF3DB-6F64-46B4-B124-71B41859E068}" destId="{DDBE15FA-5489-4186-AC66-030D71F579BA}" srcOrd="0" destOrd="0" presId="urn:microsoft.com/office/officeart/2024/layout/VerticalActionList"/>
    <dgm:cxn modelId="{46E0435E-CCD2-4E23-B3AB-8F6CFAA8DA30}" type="presParOf" srcId="{DDBE15FA-5489-4186-AC66-030D71F579BA}" destId="{D0D9C4E2-2CBC-4482-9D24-9D18AFB95FF3}" srcOrd="0" destOrd="0" presId="urn:microsoft.com/office/officeart/2024/layout/VerticalActionList"/>
    <dgm:cxn modelId="{3BBB9683-4626-4321-80A6-10EE4442FA8F}" type="presParOf" srcId="{DDBE15FA-5489-4186-AC66-030D71F579BA}" destId="{D524B9F7-13B2-4608-9EAC-82C1936DCBBA}" srcOrd="1" destOrd="0" presId="urn:microsoft.com/office/officeart/2024/layout/VerticalActionList"/>
    <dgm:cxn modelId="{49B4CB1C-3A5B-48DA-B7F7-9CED9EEC31B7}" type="presParOf" srcId="{DDBE15FA-5489-4186-AC66-030D71F579BA}" destId="{4A0E297B-AE95-49F0-98DA-864038C960A7}" srcOrd="2" destOrd="0" presId="urn:microsoft.com/office/officeart/2024/layout/VerticalActionList"/>
    <dgm:cxn modelId="{AF994661-2D68-42ED-A59A-386476643854}" type="presParOf" srcId="{980FF3DB-6F64-46B4-B124-71B41859E068}" destId="{89A6B9AA-6BAF-4EBB-B8FF-208527063B8E}" srcOrd="1" destOrd="0" presId="urn:microsoft.com/office/officeart/2024/layout/VerticalActionList"/>
    <dgm:cxn modelId="{8552A4EF-F506-4472-AEB8-477F1D5EE05B}" type="presParOf" srcId="{980FF3DB-6F64-46B4-B124-71B41859E068}" destId="{08D8A2C3-6768-4BDD-9BC8-5997B98541D0}" srcOrd="2" destOrd="0" presId="urn:microsoft.com/office/officeart/2024/layout/VerticalActionList"/>
    <dgm:cxn modelId="{900B3312-85DB-486C-A17D-C2FCF2010CDB}" type="presParOf" srcId="{08D8A2C3-6768-4BDD-9BC8-5997B98541D0}" destId="{0869AD61-C5AD-40AD-908E-CCC8FD76C1BE}" srcOrd="0" destOrd="0" presId="urn:microsoft.com/office/officeart/2024/layout/VerticalActionList"/>
    <dgm:cxn modelId="{CD43F90A-8EDE-4F5B-AEBD-50C06352CC5F}" type="presParOf" srcId="{08D8A2C3-6768-4BDD-9BC8-5997B98541D0}" destId="{4B87DB97-2CA1-4A19-B977-6B5E10405BFA}" srcOrd="1" destOrd="0" presId="urn:microsoft.com/office/officeart/2024/layout/VerticalActionList"/>
    <dgm:cxn modelId="{8CDE3B40-BAF4-45B3-A35A-BC7D19D5AB81}" type="presParOf" srcId="{08D8A2C3-6768-4BDD-9BC8-5997B98541D0}" destId="{B0440041-94E8-454D-B019-3FD403841F17}" srcOrd="2" destOrd="0" presId="urn:microsoft.com/office/officeart/2024/layout/VerticalActionList"/>
    <dgm:cxn modelId="{71E3338F-3062-4C6A-AD84-0E21C113E502}" type="presParOf" srcId="{980FF3DB-6F64-46B4-B124-71B41859E068}" destId="{7BD8207D-BCF9-4F00-817E-69F9A7EF3B06}" srcOrd="3" destOrd="0" presId="urn:microsoft.com/office/officeart/2024/layout/VerticalActionList"/>
    <dgm:cxn modelId="{EB023A0D-931F-43F5-9002-8C222D902824}" type="presParOf" srcId="{980FF3DB-6F64-46B4-B124-71B41859E068}" destId="{F95706E8-60F7-4A89-8FE0-EE488E36AE0A}" srcOrd="4" destOrd="0" presId="urn:microsoft.com/office/officeart/2024/layout/VerticalActionList"/>
    <dgm:cxn modelId="{7B837430-82B7-4BDC-A301-4D76211F61FC}" type="presParOf" srcId="{F95706E8-60F7-4A89-8FE0-EE488E36AE0A}" destId="{AACA05CD-AFCD-4FFD-BBBC-ABDF6FBBAB7D}" srcOrd="0" destOrd="0" presId="urn:microsoft.com/office/officeart/2024/layout/VerticalActionList"/>
    <dgm:cxn modelId="{F03BF001-D98B-4F4D-BFE5-31490B2BF825}" type="presParOf" srcId="{F95706E8-60F7-4A89-8FE0-EE488E36AE0A}" destId="{1280E6B2-331D-492E-B7E4-A7D4E6CE7752}" srcOrd="1" destOrd="0" presId="urn:microsoft.com/office/officeart/2024/layout/VerticalActionList"/>
    <dgm:cxn modelId="{30F9EE9C-2464-4754-9840-99D50FCDA1E1}" type="presParOf" srcId="{F95706E8-60F7-4A89-8FE0-EE488E36AE0A}" destId="{110AE7FA-B4D2-42FA-B08C-6F442718E507}" srcOrd="2" destOrd="0" presId="urn:microsoft.com/office/officeart/2024/layout/VerticalActionList"/>
    <dgm:cxn modelId="{A621A73F-2F06-46A3-BE2A-0E854C27949B}" type="presParOf" srcId="{980FF3DB-6F64-46B4-B124-71B41859E068}" destId="{B0444DAD-CD3E-4143-90AD-9DD98D262AD9}" srcOrd="5" destOrd="0" presId="urn:microsoft.com/office/officeart/2024/layout/VerticalActionList"/>
    <dgm:cxn modelId="{A045D8F5-26E3-4D36-A81E-149428B6FF3F}" type="presParOf" srcId="{980FF3DB-6F64-46B4-B124-71B41859E068}" destId="{2EA5A7CE-2DA5-46DE-8672-7007B1C6BB3E}" srcOrd="6" destOrd="0" presId="urn:microsoft.com/office/officeart/2024/layout/VerticalActionList"/>
    <dgm:cxn modelId="{ACAD47EE-3B15-4B29-8669-409668AC74BD}" type="presParOf" srcId="{2EA5A7CE-2DA5-46DE-8672-7007B1C6BB3E}" destId="{9C2EB30E-5D12-4410-AFE0-B818BB88D55E}" srcOrd="0" destOrd="0" presId="urn:microsoft.com/office/officeart/2024/layout/VerticalActionList"/>
    <dgm:cxn modelId="{A3626E99-678C-4A9B-ACC3-EDEB01157387}" type="presParOf" srcId="{2EA5A7CE-2DA5-46DE-8672-7007B1C6BB3E}" destId="{BE2A4268-1F74-4068-AF1C-4D907D453A30}" srcOrd="1" destOrd="0" presId="urn:microsoft.com/office/officeart/2024/layout/VerticalActionList"/>
    <dgm:cxn modelId="{DA2A1FE3-EF58-410D-90E3-818C3C31803C}" type="presParOf" srcId="{2EA5A7CE-2DA5-46DE-8672-7007B1C6BB3E}" destId="{55CAF516-463B-4DDC-862D-A45A8C094D06}" srcOrd="2" destOrd="0" presId="urn:microsoft.com/office/officeart/2024/layout/Vertical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D9C4E2-2CBC-4482-9D24-9D18AFB95FF3}">
      <dsp:nvSpPr>
        <dsp:cNvPr id="0" name=""/>
        <dsp:cNvSpPr/>
      </dsp:nvSpPr>
      <dsp:spPr>
        <a:xfrm rot="5400000">
          <a:off x="4389439" y="-2843394"/>
          <a:ext cx="893441" cy="6583680"/>
        </a:xfrm>
        <a:prstGeom prst="round2SameRect">
          <a:avLst>
            <a:gd name="adj1" fmla="val 15000"/>
            <a:gd name="adj2" fmla="val 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021" tIns="88252" rIns="86021" bIns="88252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      1.	</a:t>
          </a:r>
        </a:p>
      </dsp:txBody>
      <dsp:txXfrm rot="16200000">
        <a:off x="36555" y="26168"/>
        <a:ext cx="1599432" cy="841105"/>
      </dsp:txXfrm>
    </dsp:sp>
    <dsp:sp modelId="{4A0E297B-AE95-49F0-98DA-864038C960A7}">
      <dsp:nvSpPr>
        <dsp:cNvPr id="0" name=""/>
        <dsp:cNvSpPr/>
      </dsp:nvSpPr>
      <dsp:spPr>
        <a:xfrm>
          <a:off x="1625599" y="1724"/>
          <a:ext cx="6502400" cy="893441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634" tIns="88252" rIns="137634" bIns="88252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Investigate West Warehouse</a:t>
          </a:r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Review workflow, queue times, handoffs, capacity, and workload distribution.</a:t>
          </a:r>
        </a:p>
      </dsp:txBody>
      <dsp:txXfrm>
        <a:off x="1625599" y="1724"/>
        <a:ext cx="6502400" cy="893441"/>
      </dsp:txXfrm>
    </dsp:sp>
    <dsp:sp modelId="{D524B9F7-13B2-4608-9EAC-82C1936DCBBA}">
      <dsp:nvSpPr>
        <dsp:cNvPr id="0" name=""/>
        <dsp:cNvSpPr/>
      </dsp:nvSpPr>
      <dsp:spPr>
        <a:xfrm rot="16200000">
          <a:off x="376466" y="-366079"/>
          <a:ext cx="893441" cy="1625600"/>
        </a:xfrm>
        <a:prstGeom prst="round2SameRect">
          <a:avLst>
            <a:gd name="adj1" fmla="val 10000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021" tIns="88252" rIns="86021" bIns="88252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      1.	</a:t>
          </a:r>
        </a:p>
      </dsp:txBody>
      <dsp:txXfrm rot="5400000">
        <a:off x="36555" y="26168"/>
        <a:ext cx="1599432" cy="841105"/>
      </dsp:txXfrm>
    </dsp:sp>
    <dsp:sp modelId="{0869AD61-C5AD-40AD-908E-CCC8FD76C1BE}">
      <dsp:nvSpPr>
        <dsp:cNvPr id="0" name=""/>
        <dsp:cNvSpPr/>
      </dsp:nvSpPr>
      <dsp:spPr>
        <a:xfrm rot="5400000">
          <a:off x="4389439" y="-1896346"/>
          <a:ext cx="893441" cy="6583680"/>
        </a:xfrm>
        <a:prstGeom prst="round2SameRect">
          <a:avLst>
            <a:gd name="adj1" fmla="val 15000"/>
            <a:gd name="adj2" fmla="val 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021" tIns="88252" rIns="86021" bIns="88252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      2.	</a:t>
          </a:r>
        </a:p>
      </dsp:txBody>
      <dsp:txXfrm rot="16200000">
        <a:off x="26168" y="953435"/>
        <a:ext cx="1599432" cy="841105"/>
      </dsp:txXfrm>
    </dsp:sp>
    <dsp:sp modelId="{B0440041-94E8-454D-B019-3FD403841F17}">
      <dsp:nvSpPr>
        <dsp:cNvPr id="0" name=""/>
        <dsp:cNvSpPr/>
      </dsp:nvSpPr>
      <dsp:spPr>
        <a:xfrm>
          <a:off x="1625599" y="948772"/>
          <a:ext cx="6502400" cy="893441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634" tIns="88252" rIns="137634" bIns="88252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Investigate Team B</a:t>
          </a:r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Compare workload, priority mix, order complexity, and processing-time distribution with other teams.</a:t>
          </a:r>
        </a:p>
      </dsp:txBody>
      <dsp:txXfrm>
        <a:off x="1625599" y="948772"/>
        <a:ext cx="6502400" cy="893441"/>
      </dsp:txXfrm>
    </dsp:sp>
    <dsp:sp modelId="{4B87DB97-2CA1-4A19-B977-6B5E10405BFA}">
      <dsp:nvSpPr>
        <dsp:cNvPr id="0" name=""/>
        <dsp:cNvSpPr/>
      </dsp:nvSpPr>
      <dsp:spPr>
        <a:xfrm rot="16200000">
          <a:off x="366079" y="561188"/>
          <a:ext cx="893441" cy="1625600"/>
        </a:xfrm>
        <a:prstGeom prst="round2SameRect">
          <a:avLst>
            <a:gd name="adj1" fmla="val 10000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021" tIns="88252" rIns="86021" bIns="88252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      2.	</a:t>
          </a:r>
        </a:p>
      </dsp:txBody>
      <dsp:txXfrm rot="5400000">
        <a:off x="26168" y="953435"/>
        <a:ext cx="1599432" cy="841105"/>
      </dsp:txXfrm>
    </dsp:sp>
    <dsp:sp modelId="{AACA05CD-AFCD-4FFD-BBBC-ABDF6FBBAB7D}">
      <dsp:nvSpPr>
        <dsp:cNvPr id="0" name=""/>
        <dsp:cNvSpPr/>
      </dsp:nvSpPr>
      <dsp:spPr>
        <a:xfrm rot="5400000">
          <a:off x="4389439" y="-949299"/>
          <a:ext cx="893441" cy="6583680"/>
        </a:xfrm>
        <a:prstGeom prst="round2SameRect">
          <a:avLst>
            <a:gd name="adj1" fmla="val 15000"/>
            <a:gd name="adj2" fmla="val 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021" tIns="88252" rIns="86021" bIns="88252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      3.</a:t>
          </a:r>
        </a:p>
      </dsp:txBody>
      <dsp:txXfrm rot="16200000">
        <a:off x="26168" y="1921987"/>
        <a:ext cx="1599432" cy="841105"/>
      </dsp:txXfrm>
    </dsp:sp>
    <dsp:sp modelId="{110AE7FA-B4D2-42FA-B08C-6F442718E507}">
      <dsp:nvSpPr>
        <dsp:cNvPr id="0" name=""/>
        <dsp:cNvSpPr/>
      </dsp:nvSpPr>
      <dsp:spPr>
        <a:xfrm>
          <a:off x="1625599" y="1895820"/>
          <a:ext cx="6502400" cy="893441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634" tIns="88252" rIns="137634" bIns="88252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Monitor SLA Performance</a:t>
          </a:r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Continue monthly monitoring to identify changes in compliance and emerging bottlenecks.</a:t>
          </a:r>
        </a:p>
      </dsp:txBody>
      <dsp:txXfrm>
        <a:off x="1625599" y="1895820"/>
        <a:ext cx="6502400" cy="893441"/>
      </dsp:txXfrm>
    </dsp:sp>
    <dsp:sp modelId="{1280E6B2-331D-492E-B7E4-A7D4E6CE7752}">
      <dsp:nvSpPr>
        <dsp:cNvPr id="0" name=""/>
        <dsp:cNvSpPr/>
      </dsp:nvSpPr>
      <dsp:spPr>
        <a:xfrm rot="16200000">
          <a:off x="366079" y="1529740"/>
          <a:ext cx="893441" cy="1625600"/>
        </a:xfrm>
        <a:prstGeom prst="round2SameRect">
          <a:avLst>
            <a:gd name="adj1" fmla="val 10000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021" tIns="88252" rIns="86021" bIns="88252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      3.</a:t>
          </a:r>
        </a:p>
      </dsp:txBody>
      <dsp:txXfrm rot="5400000">
        <a:off x="26168" y="1921987"/>
        <a:ext cx="1599432" cy="841105"/>
      </dsp:txXfrm>
    </dsp:sp>
    <dsp:sp modelId="{9C2EB30E-5D12-4410-AFE0-B818BB88D55E}">
      <dsp:nvSpPr>
        <dsp:cNvPr id="0" name=""/>
        <dsp:cNvSpPr/>
      </dsp:nvSpPr>
      <dsp:spPr>
        <a:xfrm rot="5400000">
          <a:off x="4389439" y="-2251"/>
          <a:ext cx="893441" cy="6583680"/>
        </a:xfrm>
        <a:prstGeom prst="round2SameRect">
          <a:avLst>
            <a:gd name="adj1" fmla="val 15000"/>
            <a:gd name="adj2" fmla="val 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021" tIns="88252" rIns="86021" bIns="88252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      4.</a:t>
          </a:r>
        </a:p>
      </dsp:txBody>
      <dsp:txXfrm rot="16200000">
        <a:off x="26168" y="2869035"/>
        <a:ext cx="1599432" cy="841105"/>
      </dsp:txXfrm>
    </dsp:sp>
    <dsp:sp modelId="{55CAF516-463B-4DDC-862D-A45A8C094D06}">
      <dsp:nvSpPr>
        <dsp:cNvPr id="0" name=""/>
        <dsp:cNvSpPr/>
      </dsp:nvSpPr>
      <dsp:spPr>
        <a:xfrm>
          <a:off x="1625599" y="2842867"/>
          <a:ext cx="6502400" cy="893441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634" tIns="88252" rIns="137634" bIns="88252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Improve Data Quality</a:t>
          </a:r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Address missing Region, Team, Processing Hours, and Order Value fields at the source.</a:t>
          </a:r>
        </a:p>
      </dsp:txBody>
      <dsp:txXfrm>
        <a:off x="1625599" y="2842867"/>
        <a:ext cx="6502400" cy="893441"/>
      </dsp:txXfrm>
    </dsp:sp>
    <dsp:sp modelId="{BE2A4268-1F74-4068-AF1C-4D907D453A30}">
      <dsp:nvSpPr>
        <dsp:cNvPr id="0" name=""/>
        <dsp:cNvSpPr/>
      </dsp:nvSpPr>
      <dsp:spPr>
        <a:xfrm rot="16200000">
          <a:off x="366079" y="2476788"/>
          <a:ext cx="893441" cy="1625600"/>
        </a:xfrm>
        <a:prstGeom prst="round2SameRect">
          <a:avLst>
            <a:gd name="adj1" fmla="val 10000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021" tIns="88252" rIns="86021" bIns="88252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      4.</a:t>
          </a:r>
        </a:p>
      </dsp:txBody>
      <dsp:txXfrm rot="5400000">
        <a:off x="26168" y="2869035"/>
        <a:ext cx="1599432" cy="8411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layout/VerticalActionList">
  <dgm:title val=""/>
  <dgm:desc val=""/>
  <dgm:catLst>
    <dgm:cat type="list" pri="82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dirChoose">
      <dgm:if name="dirNorm" func="var" arg="dir" op="equ" val="norm">
        <dgm:alg type="lin">
          <dgm:param type="linDir" val="fromT"/>
          <dgm:param type="nodeHorzAlign" val="l"/>
        </dgm:alg>
      </dgm:if>
      <dgm:else name="dirRev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alg type="composite"/>
        <dgm:shape xmlns:r="http://schemas.openxmlformats.org/officeDocument/2006/relationships" r:blip="">
          <dgm:adjLst/>
        </dgm:shape>
        <dgm:presOf/>
        <dgm:choose name="compositeDir">
          <dgm:if name="compositeNorm" func="var" arg="dir" op="equ" val="norm">
            <dgm:constrLst>
              <dgm:constr type="l" for="ch" forName="bgOutline" refType="w" fact="0.19"/>
              <dgm:constr type="t" for="ch" forName="bgOutline"/>
              <dgm:constr type="w" for="ch" forName="bgOutline" refType="w" fact="0.81"/>
              <dgm:constr type="h" for="ch" forName="bgOutline" refType="h"/>
              <dgm:constr type="l" for="ch" forName="parentText"/>
              <dgm:constr type="t" for="ch" forName="parentText"/>
              <dgm:constr type="w" for="ch" forName="parentText" refType="w" fact="0.2"/>
              <dgm:constr type="h" for="ch" forName="parentText" refType="h"/>
              <dgm:constr type="l" for="ch" forName="descendantText" refType="w" fact="0.2"/>
              <dgm:constr type="t" for="ch" forName="descendantText"/>
              <dgm:constr type="w" for="ch" forName="descendantText" refType="w" fact="0.8"/>
              <dgm:constr type="h" for="ch" forName="descendantText" refType="h"/>
            </dgm:constrLst>
          </dgm:if>
          <dgm:else name="compositeRev">
            <dgm:constrLst>
              <dgm:constr type="l" for="ch" forName="bgOutline"/>
              <dgm:constr type="t" for="ch" forName="bgOutline"/>
              <dgm:constr type="w" for="ch" forName="bgOutline" refType="w" fact="0.81"/>
              <dgm:constr type="h" for="ch" forName="bgOutline" refType="h"/>
              <dgm:constr type="l" for="ch" forName="parentText" refType="w" fact="0.8"/>
              <dgm:constr type="t" for="ch" forName="parentText"/>
              <dgm:constr type="w" for="ch" forName="parentText" refType="w" fact="0.2"/>
              <dgm:constr type="h" for="ch" forName="parentText" refType="h"/>
              <dgm:constr type="l" for="ch" forName="descendantText"/>
              <dgm:constr type="t" for="ch" forName="descendantText"/>
              <dgm:constr type="w" for="ch" forName="descendantText" refType="w" fact="0.8"/>
              <dgm:constr type="h" for="ch" forName="descendantText" refType="h"/>
            </dgm:constrLst>
          </dgm:else>
        </dgm:choose>
        <dgm:ruleLst/>
        <dgm:layoutNode name="bgOutline" styleLbl="fgAcc1">
          <dgm:alg type="sp"/>
          <dgm:choose name="bgOutlineDir">
            <dgm:if name="bgOutlineNorm" func="var" arg="dir" op="equ" val="norm">
              <dgm:shape xmlns:r="http://schemas.openxmlformats.org/officeDocument/2006/relationships" rot="90" type="round2SameRect" r:blip="">
                <dgm:adjLst>
                  <dgm:adj idx="1" val="0.15"/>
                  <dgm:adj idx="2" val="0"/>
                </dgm:adjLst>
              </dgm:shape>
            </dgm:if>
            <dgm:else name="bgOutlineRev">
              <dgm:shape xmlns:r="http://schemas.openxmlformats.org/officeDocument/2006/relationships" rot="-90" type="round2SameRect" r:blip="">
                <dgm:adjLst>
                  <dgm:adj idx="1" val="0.15"/>
                  <dgm:adj idx="2" val="0"/>
                </dgm:adjLst>
              </dgm:shape>
            </dgm:else>
          </dgm:choose>
          <dgm:presOf axis="self"/>
          <dgm:constrLst/>
          <dgm:ruleLst/>
        </dgm:layoutNode>
        <dgm:layoutNode name="parentText" styleLbl="alignNode1">
          <dgm:varLst>
            <dgm:chMax val="1"/>
            <dgm:bulletEnabled/>
          </dgm:varLst>
          <dgm:alg type="tx">
            <dgm:param type="parTxLTRAlign" val="l"/>
            <dgm:param type="parTxRTLAlign" val="r"/>
          </dgm:alg>
          <dgm:choose name="parentShapeDir">
            <dgm:if name="parentShapeNorm" func="var" arg="dir" op="equ" val="norm">
              <dgm:shape xmlns:r="http://schemas.openxmlformats.org/officeDocument/2006/relationships" rot="-90" type="round2SameRect" r:blip="" zOrderOff="3">
                <dgm:adjLst>
                  <dgm:adj idx="1" val="0.1"/>
                </dgm:adjLst>
              </dgm:shape>
            </dgm:if>
            <dgm:else name="parentShapeRev">
              <dgm:shape xmlns:r="http://schemas.openxmlformats.org/officeDocument/2006/relationships" rot="90" type="round2SameRect" r:blip="" zOrderOff="3">
                <dgm:adjLst>
                  <dgm:adj idx="1" val="0.1"/>
                </dgm:adjLst>
              </dgm:shape>
            </dgm:else>
          </dgm:choos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8" fact="NaN" max="NaN"/>
          </dgm:ruleLst>
        </dgm:layoutNode>
        <dgm:layoutNode name="descendantText" styleLbl="revTx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 hideGeom="1">
            <dgm:adjLst/>
          </dgm:shape>
          <dgm:presOf axis="des" ptType="node"/>
          <dgm:constrLst>
            <dgm:constr type="primFontSz" val="24"/>
            <dgm:constr type="lMarg" refType="w" fact="0.06"/>
            <dgm:constr type="rMarg" refType="w" fact="0.06"/>
            <dgm:constr type="tMarg" refType="h" fact="0.28"/>
            <dgm:constr type="bMarg" refType="h" fact="0.28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642" y="97104"/>
            <a:ext cx="4134357" cy="3331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492488"/>
            <a:ext cx="3349751" cy="14113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73880" y="0"/>
            <a:ext cx="78181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6644" y="6338703"/>
            <a:ext cx="219669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383669" y="6338703"/>
            <a:ext cx="1392578" cy="365125"/>
          </a:xfrm>
        </p:spPr>
        <p:txBody>
          <a:bodyPr/>
          <a:lstStyle/>
          <a:p>
            <a:fld id="{83AD8AF5-84E4-41CD-842E-F33B66825CEE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3776247" y="6342301"/>
            <a:ext cx="429207" cy="365125"/>
          </a:xfrm>
        </p:spPr>
        <p:txBody>
          <a:bodyPr/>
          <a:lstStyle/>
          <a:p>
            <a:fld id="{AA5590A4-3A9C-45AF-B778-B337616A7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13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09862"/>
            <a:ext cx="10963656" cy="4513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D8AF5-84E4-41CD-842E-F33B66825CEE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590A4-3A9C-45AF-B778-B337616A7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29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888410" cy="284556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888410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7424272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343955"/>
            <a:ext cx="2100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67853" y="6343955"/>
            <a:ext cx="14751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3AD8AF5-84E4-41CD-842E-F33B66825CEE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066" y="6343955"/>
            <a:ext cx="429207" cy="365125"/>
          </a:xfrm>
        </p:spPr>
        <p:txBody>
          <a:bodyPr/>
          <a:lstStyle/>
          <a:p>
            <a:fld id="{AA5590A4-3A9C-45AF-B778-B337616A7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93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1143000"/>
            <a:ext cx="8683753" cy="309514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4498848"/>
            <a:ext cx="6881457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6343955"/>
            <a:ext cx="2875064" cy="365125"/>
          </a:xfrm>
        </p:spPr>
        <p:txBody>
          <a:bodyPr/>
          <a:lstStyle/>
          <a:p>
            <a:fld id="{83AD8AF5-84E4-41CD-842E-F33B66825CEE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590A4-3A9C-45AF-B778-B337616A7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51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C53C90-8C33-0C80-CBD4-B3BEE604E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58" y="1869103"/>
            <a:ext cx="9337042" cy="4906929"/>
          </a:xfrm>
        </p:spPr>
        <p:txBody>
          <a:bodyPr>
            <a:normAutofit/>
          </a:bodyPr>
          <a:lstStyle>
            <a:lvl1pPr>
              <a:defRPr sz="7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/>
          <a:lstStyle/>
          <a:p>
            <a:fld id="{83AD8AF5-84E4-41CD-842E-F33B66825CEE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/>
          <a:lstStyle/>
          <a:p>
            <a:fld id="{AA5590A4-3A9C-45AF-B778-B337616A7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204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11" y="105196"/>
            <a:ext cx="9023561" cy="2113392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D8AF5-84E4-41CD-842E-F33B66825CEE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590A4-3A9C-45AF-B778-B337616A7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774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41011" y="73742"/>
            <a:ext cx="6863496" cy="2220726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4565591" cy="68580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88000" y="2726267"/>
            <a:ext cx="5916507" cy="343678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88000" y="6343955"/>
            <a:ext cx="298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/>
          <a:lstStyle/>
          <a:p>
            <a:fld id="{83AD8AF5-84E4-41CD-842E-F33B66825CEE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AA5590A4-3A9C-45AF-B778-B337616A7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437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388700"/>
            <a:ext cx="3923455" cy="408358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1" y="1389134"/>
            <a:ext cx="6045390" cy="408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D8AF5-84E4-41CD-842E-F33B66825CEE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590A4-3A9C-45AF-B778-B337616A7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80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707549"/>
            <a:ext cx="3349754" cy="272145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0" y="708184"/>
            <a:ext cx="6928103" cy="5514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D8AF5-84E4-41CD-842E-F33B66825CEE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590A4-3A9C-45AF-B778-B337616A7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943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6011" y="612648"/>
            <a:ext cx="6426389" cy="1143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7368" y="1978488"/>
            <a:ext cx="6418935" cy="4285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010" y="6343955"/>
            <a:ext cx="336490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/>
          <a:lstStyle/>
          <a:p>
            <a:fld id="{83AD8AF5-84E4-41CD-842E-F33B66825CEE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AA5590A4-3A9C-45AF-B778-B337616A7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129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8" y="474177"/>
            <a:ext cx="6950232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1627632"/>
            <a:ext cx="6950232" cy="4686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8" y="6343955"/>
            <a:ext cx="342290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/>
          <a:lstStyle/>
          <a:p>
            <a:fld id="{83AD8AF5-84E4-41CD-842E-F33B66825CEE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AA5590A4-3A9C-45AF-B778-B337616A7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6423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475488"/>
            <a:ext cx="6858000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627632"/>
            <a:ext cx="6858000" cy="4535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/>
          <a:lstStyle/>
          <a:p>
            <a:fld id="{83AD8AF5-84E4-41CD-842E-F33B66825CEE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/>
          <a:lstStyle/>
          <a:p>
            <a:fld id="{AA5590A4-3A9C-45AF-B778-B337616A738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67410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20623"/>
            <a:ext cx="4494189" cy="132588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1975104"/>
            <a:ext cx="4494063" cy="41569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776" y="6343955"/>
            <a:ext cx="2098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13651" y="6343955"/>
            <a:ext cx="1573037" cy="365125"/>
          </a:xfrm>
        </p:spPr>
        <p:txBody>
          <a:bodyPr/>
          <a:lstStyle/>
          <a:p>
            <a:fld id="{83AD8AF5-84E4-41CD-842E-F33B66825CEE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6658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A5590A4-3A9C-45AF-B778-B337616A738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648879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429768"/>
            <a:ext cx="3657600" cy="166722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823" y="2315569"/>
            <a:ext cx="3657600" cy="3814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7" y="6343955"/>
            <a:ext cx="163733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03447" y="6343955"/>
            <a:ext cx="949766" cy="365125"/>
          </a:xfrm>
        </p:spPr>
        <p:txBody>
          <a:bodyPr/>
          <a:lstStyle/>
          <a:p>
            <a:fld id="{83AD8AF5-84E4-41CD-842E-F33B66825CEE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653213" y="6343955"/>
            <a:ext cx="429207" cy="365125"/>
          </a:xfrm>
        </p:spPr>
        <p:txBody>
          <a:bodyPr/>
          <a:lstStyle/>
          <a:p>
            <a:fld id="{AA5590A4-3A9C-45AF-B778-B337616A738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95088" y="0"/>
            <a:ext cx="729691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163763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1" y="929554"/>
            <a:ext cx="2699254" cy="185894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693346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343955"/>
            <a:ext cx="140446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3AD8AF5-84E4-41CD-842E-F33B66825CEE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AA5590A4-3A9C-45AF-B778-B337616A7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010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162318"/>
            <a:ext cx="3044954" cy="18928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4162318"/>
            <a:ext cx="7460029" cy="20915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D8AF5-84E4-41CD-842E-F33B66825CEE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590A4-3A9C-45AF-B778-B337616A7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826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9341"/>
            <a:ext cx="10969753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12398"/>
            <a:ext cx="4637269" cy="4207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C8422D5-19BC-1CA0-FD0B-D86260BAA32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737221" y="1912938"/>
            <a:ext cx="5741992" cy="422433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/>
          <a:lstStyle/>
          <a:p>
            <a:fld id="{83AD8AF5-84E4-41CD-842E-F33B66825CEE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/>
          <a:lstStyle/>
          <a:p>
            <a:fld id="{AA5590A4-3A9C-45AF-B778-B337616A7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6838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06802"/>
            <a:ext cx="4672584" cy="126948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0468" y="2173850"/>
            <a:ext cx="4564763" cy="396368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5563" y="732155"/>
            <a:ext cx="5676838" cy="54053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D8AF5-84E4-41CD-842E-F33B66825CEE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590A4-3A9C-45AF-B778-B337616A7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6741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893733"/>
            <a:ext cx="9762068" cy="105980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484094"/>
            <a:ext cx="10543032" cy="453614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AD8AF5-84E4-41CD-842E-F33B66825CEE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A5590A4-3A9C-45AF-B778-B337616A7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9218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264" y="42335"/>
            <a:ext cx="11517039" cy="61722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8000" b="1"/>
            </a:lvl1pPr>
            <a:lvl2pPr marL="228600" indent="0">
              <a:lnSpc>
                <a:spcPct val="90000"/>
              </a:lnSpc>
              <a:buNone/>
              <a:defRPr sz="7200" b="1"/>
            </a:lvl2pPr>
            <a:lvl3pPr marL="457200" indent="0">
              <a:lnSpc>
                <a:spcPct val="90000"/>
              </a:lnSpc>
              <a:buNone/>
              <a:defRPr sz="66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54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D8AF5-84E4-41CD-842E-F33B66825CEE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590A4-3A9C-45AF-B778-B337616A7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2905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029200"/>
            <a:ext cx="9198864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3324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D8AF5-84E4-41CD-842E-F33B66825CEE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590A4-3A9C-45AF-B778-B337616A7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5640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741152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825625"/>
            <a:ext cx="50749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8563" y="1825625"/>
            <a:ext cx="5075237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D8AF5-84E4-41CD-842E-F33B66825CEE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590A4-3A9C-45AF-B778-B337616A7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7851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12064"/>
            <a:ext cx="10745788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387600"/>
            <a:ext cx="5075238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0468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832" y="2387600"/>
            <a:ext cx="5075556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D8AF5-84E4-41CD-842E-F33B66825CEE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590A4-3A9C-45AF-B778-B337616A7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0431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963656" cy="96926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D8AF5-84E4-41CD-842E-F33B66825CEE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590A4-3A9C-45AF-B778-B337616A7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89021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D8AF5-84E4-41CD-842E-F33B66825CEE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590A4-3A9C-45AF-B778-B337616A7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23350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" y="89808"/>
            <a:ext cx="11462003" cy="2514600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118757"/>
            <a:ext cx="10963528" cy="2620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D8AF5-84E4-41CD-842E-F33B66825CEE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590A4-3A9C-45AF-B778-B337616A7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7682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60800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D8AF5-84E4-41CD-842E-F33B66825CEE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590A4-3A9C-45AF-B778-B337616A7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6968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4649"/>
            <a:ext cx="10963655" cy="9723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09862"/>
            <a:ext cx="10963656" cy="4513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3AD8AF5-84E4-41CD-842E-F33B66825CEE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AA5590A4-3A9C-45AF-B778-B337616A7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642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800" b="1" kern="1200" spc="-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  <p15:guide id="9" pos="7296">
          <p15:clr>
            <a:srgbClr val="F26B43"/>
          </p15:clr>
        </p15:guide>
        <p15:guide id="1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D46B0-E8C1-A9A4-2CFC-E68541CC2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5310" y="1642769"/>
            <a:ext cx="7235798" cy="2220726"/>
          </a:xfrm>
        </p:spPr>
        <p:txBody>
          <a:bodyPr anchor="t">
            <a:normAutofit/>
          </a:bodyPr>
          <a:lstStyle/>
          <a:p>
            <a:r>
              <a:rPr lang="en-US" dirty="0"/>
              <a:t>Operation Data</a:t>
            </a:r>
          </a:p>
        </p:txBody>
      </p:sp>
      <p:pic>
        <p:nvPicPr>
          <p:cNvPr id="5" name="Picture 4" descr="Vibrant multicolor checkered floor design">
            <a:extLst>
              <a:ext uri="{FF2B5EF4-FFF2-40B4-BE49-F238E27FC236}">
                <a16:creationId xmlns:a16="http://schemas.microsoft.com/office/drawing/2014/main" id="{286E60D6-C596-B5B2-E68B-B52F4A799C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203" r="27860"/>
          <a:stretch>
            <a:fillRect/>
          </a:stretch>
        </p:blipFill>
        <p:spPr>
          <a:xfrm>
            <a:off x="1" y="10"/>
            <a:ext cx="4565591" cy="685799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EB345801-023B-F0EC-327B-40AA630DC6A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14956" y="3429000"/>
            <a:ext cx="5916507" cy="34367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Operations &amp; SLA Performance Analysis | Jan–Jun 2026</a:t>
            </a:r>
          </a:p>
        </p:txBody>
      </p:sp>
    </p:spTree>
    <p:extLst>
      <p:ext uri="{BB962C8B-B14F-4D97-AF65-F5344CB8AC3E}">
        <p14:creationId xmlns:p14="http://schemas.microsoft.com/office/powerpoint/2010/main" val="3093675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CC47D-C30B-E3E9-CB3D-89CB52FFC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Problem &amp;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B7781-5D12-C2EC-7152-87627E78EBA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825625"/>
            <a:ext cx="5074920" cy="188393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b="1" dirty="0"/>
              <a:t>Business Problem</a:t>
            </a:r>
            <a:endParaRPr lang="en-US" sz="2000" dirty="0"/>
          </a:p>
          <a:p>
            <a:r>
              <a:rPr lang="en-US" dirty="0"/>
              <a:t>Management needed visibility into order-processing performance, SLA compliance, delays, errors, and operational bottlenecks.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FA9DAC-C0FD-8ED2-C7F7-6C385B07077A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8563" y="1825625"/>
            <a:ext cx="5075237" cy="160337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b="1" dirty="0"/>
              <a:t>Objective</a:t>
            </a:r>
          </a:p>
          <a:p>
            <a:r>
              <a:rPr lang="en-US" dirty="0"/>
              <a:t>Analyze order-processing data to identify SLA performance patterns, areas requiring operational investigation, and data-quality issues.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61ECC3-58A9-A270-90D9-CBDF230F2902}"/>
              </a:ext>
            </a:extLst>
          </p:cNvPr>
          <p:cNvSpPr txBox="1"/>
          <p:nvPr/>
        </p:nvSpPr>
        <p:spPr>
          <a:xfrm>
            <a:off x="612648" y="3979033"/>
            <a:ext cx="663979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/>
              <a:t>Tools:</a:t>
            </a:r>
          </a:p>
          <a:p>
            <a:r>
              <a:rPr lang="en-US" sz="1400" dirty="0"/>
              <a:t>Excel | SQL | Python | Power BI	</a:t>
            </a:r>
          </a:p>
        </p:txBody>
      </p:sp>
    </p:spTree>
    <p:extLst>
      <p:ext uri="{BB962C8B-B14F-4D97-AF65-F5344CB8AC3E}">
        <p14:creationId xmlns:p14="http://schemas.microsoft.com/office/powerpoint/2010/main" val="657694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0FAC3-9F76-F52B-0C51-87DC75329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Preparation &amp; Quality Checks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009C041-645D-3774-ABDB-E1253675CC80}"/>
              </a:ext>
            </a:extLst>
          </p:cNvPr>
          <p:cNvSpPr/>
          <p:nvPr/>
        </p:nvSpPr>
        <p:spPr>
          <a:xfrm>
            <a:off x="3761513" y="1402773"/>
            <a:ext cx="2140527" cy="74814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25,012 Raw records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F0864C0-9F52-CD33-1AC6-4029F6711AE9}"/>
              </a:ext>
            </a:extLst>
          </p:cNvPr>
          <p:cNvSpPr/>
          <p:nvPr/>
        </p:nvSpPr>
        <p:spPr>
          <a:xfrm>
            <a:off x="3761510" y="2459736"/>
            <a:ext cx="2140527" cy="74814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Remove 12 Duplicates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E0D85AC-C9DA-AB40-9A8E-64E376ECCCF6}"/>
              </a:ext>
            </a:extLst>
          </p:cNvPr>
          <p:cNvSpPr/>
          <p:nvPr/>
        </p:nvSpPr>
        <p:spPr>
          <a:xfrm>
            <a:off x="3761510" y="3516699"/>
            <a:ext cx="2140527" cy="74814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25,000 unique orders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9705613-8F80-6F59-7483-D1895F263102}"/>
              </a:ext>
            </a:extLst>
          </p:cNvPr>
          <p:cNvSpPr/>
          <p:nvPr/>
        </p:nvSpPr>
        <p:spPr>
          <a:xfrm>
            <a:off x="3761509" y="4573662"/>
            <a:ext cx="2140527" cy="74814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Standardize and validate fields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86D2E47-D142-4540-61C4-5F77D71CBC7D}"/>
              </a:ext>
            </a:extLst>
          </p:cNvPr>
          <p:cNvSpPr/>
          <p:nvPr/>
        </p:nvSpPr>
        <p:spPr>
          <a:xfrm>
            <a:off x="3761508" y="5630625"/>
            <a:ext cx="2140527" cy="74814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Analysis-ready dataset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C74B12C-5FF5-2A28-B507-2C4C8B688B8B}"/>
              </a:ext>
            </a:extLst>
          </p:cNvPr>
          <p:cNvCxnSpPr>
            <a:stCxn id="4" idx="2"/>
            <a:endCxn id="8" idx="0"/>
          </p:cNvCxnSpPr>
          <p:nvPr/>
        </p:nvCxnSpPr>
        <p:spPr>
          <a:xfrm flipH="1">
            <a:off x="4831774" y="2150918"/>
            <a:ext cx="3" cy="3088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D59E420-EC57-14D2-930E-662650CA8547}"/>
              </a:ext>
            </a:extLst>
          </p:cNvPr>
          <p:cNvCxnSpPr/>
          <p:nvPr/>
        </p:nvCxnSpPr>
        <p:spPr>
          <a:xfrm flipH="1">
            <a:off x="4831768" y="3215362"/>
            <a:ext cx="3" cy="3088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79140C3-8A8B-54DA-CDCD-D008F4AA5D24}"/>
              </a:ext>
            </a:extLst>
          </p:cNvPr>
          <p:cNvCxnSpPr>
            <a:stCxn id="10" idx="2"/>
            <a:endCxn id="12" idx="0"/>
          </p:cNvCxnSpPr>
          <p:nvPr/>
        </p:nvCxnSpPr>
        <p:spPr>
          <a:xfrm flipH="1">
            <a:off x="4831773" y="4264844"/>
            <a:ext cx="1" cy="3088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997C077-C9C5-A726-39FC-8CF79EECF3AF}"/>
              </a:ext>
            </a:extLst>
          </p:cNvPr>
          <p:cNvCxnSpPr>
            <a:stCxn id="12" idx="2"/>
            <a:endCxn id="14" idx="0"/>
          </p:cNvCxnSpPr>
          <p:nvPr/>
        </p:nvCxnSpPr>
        <p:spPr>
          <a:xfrm flipH="1">
            <a:off x="4831772" y="5321807"/>
            <a:ext cx="1" cy="3088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9DE3072-004C-B0AD-85E3-6F7117ACB946}"/>
              </a:ext>
            </a:extLst>
          </p:cNvPr>
          <p:cNvSpPr txBox="1"/>
          <p:nvPr/>
        </p:nvSpPr>
        <p:spPr>
          <a:xfrm>
            <a:off x="6864215" y="2000165"/>
            <a:ext cx="4712089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Key cleaning decisions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Standardized inconsistent Region values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Converted 4 negative processing times to missing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Missing processing times excluded from SLA calculations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Retained extreme processing times for investigation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Retained zero shipping days because they were not proven invalid</a:t>
            </a:r>
          </a:p>
        </p:txBody>
      </p:sp>
    </p:spTree>
    <p:extLst>
      <p:ext uri="{BB962C8B-B14F-4D97-AF65-F5344CB8AC3E}">
        <p14:creationId xmlns:p14="http://schemas.microsoft.com/office/powerpoint/2010/main" val="1260284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38B16-016B-06AE-BB5C-0A93F9195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Operational Performance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E968FD0-BE52-4B46-8F3F-1D8FC4218A62}"/>
              </a:ext>
            </a:extLst>
          </p:cNvPr>
          <p:cNvSpPr/>
          <p:nvPr/>
        </p:nvSpPr>
        <p:spPr>
          <a:xfrm>
            <a:off x="748145" y="1610591"/>
            <a:ext cx="2524991" cy="1059873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25,000 </a:t>
            </a:r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Orders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8554401-BF95-5700-4D14-754543EB21C7}"/>
              </a:ext>
            </a:extLst>
          </p:cNvPr>
          <p:cNvSpPr/>
          <p:nvPr/>
        </p:nvSpPr>
        <p:spPr>
          <a:xfrm>
            <a:off x="3569485" y="1610590"/>
            <a:ext cx="2524991" cy="1059873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96.65% </a:t>
            </a:r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SLA Compliance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EA8DE64-2EBD-AEE2-3D4C-FC454B28EAAE}"/>
              </a:ext>
            </a:extLst>
          </p:cNvPr>
          <p:cNvSpPr/>
          <p:nvPr/>
        </p:nvSpPr>
        <p:spPr>
          <a:xfrm>
            <a:off x="6390825" y="1610589"/>
            <a:ext cx="2524991" cy="1059873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10.35 Hours</a:t>
            </a:r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Avg Processing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7E41073-A177-0AEE-4E5B-6BCDCD01884D}"/>
              </a:ext>
            </a:extLst>
          </p:cNvPr>
          <p:cNvSpPr/>
          <p:nvPr/>
        </p:nvSpPr>
        <p:spPr>
          <a:xfrm>
            <a:off x="9212165" y="1610589"/>
            <a:ext cx="2524991" cy="1059873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4.60%</a:t>
            </a:r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Error Rate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E792AA-2B7D-1514-087D-EE8474C90C28}"/>
              </a:ext>
            </a:extLst>
          </p:cNvPr>
          <p:cNvSpPr txBox="1"/>
          <p:nvPr/>
        </p:nvSpPr>
        <p:spPr>
          <a:xfrm>
            <a:off x="748145" y="3200400"/>
            <a:ext cx="73452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24,132 orders met SLA out of 24,968 orders with valid processing times.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4622D33-774A-087D-75C3-74FABFE64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282" y="3906980"/>
            <a:ext cx="6130636" cy="2511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249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0BDDF-DF13-678D-6010-B83062BB7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Are SLA Breaches Concentrated?</a:t>
            </a:r>
            <a:br>
              <a:rPr lang="en-US" dirty="0"/>
            </a:b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63CB3F-5E4A-8C24-EE03-1125F2AA9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660260"/>
            <a:ext cx="4956880" cy="27477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BAB68EF-475F-C21F-1ABC-446CDE78F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8046" y="1782665"/>
            <a:ext cx="4956880" cy="262536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B9409B7-E681-6D49-AC76-81DF9A640EF2}"/>
              </a:ext>
            </a:extLst>
          </p:cNvPr>
          <p:cNvSpPr txBox="1"/>
          <p:nvPr/>
        </p:nvSpPr>
        <p:spPr>
          <a:xfrm>
            <a:off x="612648" y="5112328"/>
            <a:ext cx="110074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West recorded a 7.22% observed SLA breach rate, compared with 1.76%–1.97% across the other named regions. Warehouse recorded a 5.30% breach rate compared with Shipping at 1.72% and Support at 0.49%.</a:t>
            </a:r>
          </a:p>
        </p:txBody>
      </p:sp>
    </p:spTree>
    <p:extLst>
      <p:ext uri="{BB962C8B-B14F-4D97-AF65-F5344CB8AC3E}">
        <p14:creationId xmlns:p14="http://schemas.microsoft.com/office/powerpoint/2010/main" val="1352986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5EE32-557C-4024-CE30-ABF8EA43F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West Warehouse -Team-Level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33E2AD-B3BB-5AD3-22A1-09CF66223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789" y="1483613"/>
            <a:ext cx="5053565" cy="2940627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E64AA2E-613B-2FBF-A690-E63AB594DCB0}"/>
              </a:ext>
            </a:extLst>
          </p:cNvPr>
          <p:cNvSpPr/>
          <p:nvPr/>
        </p:nvSpPr>
        <p:spPr>
          <a:xfrm>
            <a:off x="9102436" y="1600201"/>
            <a:ext cx="2358737" cy="758537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3.35% </a:t>
            </a:r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Overall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ED62C11-E9BE-2FC3-1466-13A0587ED689}"/>
              </a:ext>
            </a:extLst>
          </p:cNvPr>
          <p:cNvSpPr/>
          <p:nvPr/>
        </p:nvSpPr>
        <p:spPr>
          <a:xfrm>
            <a:off x="9102436" y="2569465"/>
            <a:ext cx="2358737" cy="758537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7.22% </a:t>
            </a:r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West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0191B9C-3905-C96A-640C-225CCCFCFA85}"/>
              </a:ext>
            </a:extLst>
          </p:cNvPr>
          <p:cNvSpPr/>
          <p:nvPr/>
        </p:nvSpPr>
        <p:spPr>
          <a:xfrm>
            <a:off x="9102435" y="3538729"/>
            <a:ext cx="2358738" cy="758537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10.66%</a:t>
            </a:r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West Warehouse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943B25-FF1B-9217-5FB9-E46DEDDBCEE2}"/>
              </a:ext>
            </a:extLst>
          </p:cNvPr>
          <p:cNvSpPr txBox="1"/>
          <p:nvPr/>
        </p:nvSpPr>
        <p:spPr>
          <a:xfrm>
            <a:off x="1267691" y="5320145"/>
            <a:ext cx="87575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Team B recorded the highest observed breach rate within West Warehouse at 20.86%.</a:t>
            </a:r>
          </a:p>
        </p:txBody>
      </p:sp>
    </p:spTree>
    <p:extLst>
      <p:ext uri="{BB962C8B-B14F-4D97-AF65-F5344CB8AC3E}">
        <p14:creationId xmlns:p14="http://schemas.microsoft.com/office/powerpoint/2010/main" val="1353790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C1641-36D7-ACC9-7F06-F959589AE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 &amp; Next Steps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8031AF1-3467-3C8B-0ED0-E8747A6AB3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04440170"/>
              </p:ext>
            </p:extLst>
          </p:nvPr>
        </p:nvGraphicFramePr>
        <p:xfrm>
          <a:off x="1876136" y="1239213"/>
          <a:ext cx="8128000" cy="37380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23E637D-383F-ED2C-6B29-1E3E87A5AE00}"/>
              </a:ext>
            </a:extLst>
          </p:cNvPr>
          <p:cNvSpPr txBox="1"/>
          <p:nvPr/>
        </p:nvSpPr>
        <p:spPr>
          <a:xfrm>
            <a:off x="904009" y="5451485"/>
            <a:ext cx="92063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Next analytical step:</a:t>
            </a:r>
            <a:r>
              <a:rPr lang="en-US" sz="1600" dirty="0"/>
              <a:t> investigate whether the West Warehouse pattern persists after controlling for order priority, workload, and time period.</a:t>
            </a:r>
          </a:p>
        </p:txBody>
      </p:sp>
    </p:spTree>
    <p:extLst>
      <p:ext uri="{BB962C8B-B14F-4D97-AF65-F5344CB8AC3E}">
        <p14:creationId xmlns:p14="http://schemas.microsoft.com/office/powerpoint/2010/main" val="3738138667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B93026-B8A4-4FE9-8E48-8009734911E7}" vid="{E43B60F7-EC4F-4A08-AFF5-BDC94162E53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Helena</Template>
  <TotalTime>62</TotalTime>
  <Words>355</Words>
  <Application>Microsoft Office PowerPoint</Application>
  <PresentationFormat>Widescreen</PresentationFormat>
  <Paragraphs>59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Neue Haas Grotesk Text Pro</vt:lpstr>
      <vt:lpstr>Wingdings</vt:lpstr>
      <vt:lpstr>Helena</vt:lpstr>
      <vt:lpstr>Operation Data</vt:lpstr>
      <vt:lpstr>Business Problem &amp; Objective</vt:lpstr>
      <vt:lpstr>Data Preparation &amp; Quality Checks</vt:lpstr>
      <vt:lpstr>Overall Operational Performance</vt:lpstr>
      <vt:lpstr>Where Are SLA Breaches Concentrated? </vt:lpstr>
      <vt:lpstr>West Warehouse -Team-Level Analysis</vt:lpstr>
      <vt:lpstr>Recommendations &amp;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hiral dave</dc:creator>
  <cp:lastModifiedBy>hiral dave</cp:lastModifiedBy>
  <cp:revision>1</cp:revision>
  <dcterms:created xsi:type="dcterms:W3CDTF">2026-09-28T12:20:33Z</dcterms:created>
  <dcterms:modified xsi:type="dcterms:W3CDTF">2026-09-28T13:23:26Z</dcterms:modified>
</cp:coreProperties>
</file>